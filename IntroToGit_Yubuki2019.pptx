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05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306" r:id="rId34"/>
    <p:sldId id="308" r:id="rId35"/>
    <p:sldId id="286" r:id="rId36"/>
    <p:sldId id="287" r:id="rId37"/>
    <p:sldId id="289" r:id="rId38"/>
    <p:sldId id="303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301" r:id="rId48"/>
    <p:sldId id="299" r:id="rId49"/>
    <p:sldId id="298" r:id="rId50"/>
    <p:sldId id="300" r:id="rId51"/>
    <p:sldId id="304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courses/introduction-to-git-for-data-science" TargetMode="External"/><Relationship Id="rId2" Type="http://schemas.openxmlformats.org/officeDocument/2006/relationships/hyperlink" Target="https://www.katacoda.com/courses/git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5D7F-B30A-4647-A452-9CE657A0D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Git</a:t>
            </a:r>
            <a:br>
              <a:rPr lang="en-US" dirty="0"/>
            </a:br>
            <a:r>
              <a:rPr lang="en-US" sz="3200" dirty="0"/>
              <a:t>or, Git for Demographers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B09AC-AF76-4CA1-A73F-192D20F12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Scott Yabiku, Population Research Institute, Department of Sociology &amp; Criminology</a:t>
            </a:r>
          </a:p>
          <a:p>
            <a:r>
              <a:rPr lang="en-US" dirty="0">
                <a:solidFill>
                  <a:schemeClr val="tx1"/>
                </a:solidFill>
              </a:rPr>
              <a:t>sty105@psu.edu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05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5CA2-40F6-4712-A600-BD661148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EF454-5BC2-4A03-B175-88655742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I’m going to do today</a:t>
            </a:r>
          </a:p>
          <a:p>
            <a:r>
              <a:rPr lang="en-US" dirty="0"/>
              <a:t>What I’m not going to do today</a:t>
            </a:r>
          </a:p>
        </p:txBody>
      </p:sp>
    </p:spTree>
    <p:extLst>
      <p:ext uri="{BB962C8B-B14F-4D97-AF65-F5344CB8AC3E}">
        <p14:creationId xmlns:p14="http://schemas.microsoft.com/office/powerpoint/2010/main" val="3648388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EC2A-3CC5-4A9C-94F5-8360DFD4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ECD60-565C-401A-9833-498CA628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decrease the suck</a:t>
            </a:r>
          </a:p>
        </p:txBody>
      </p:sp>
    </p:spTree>
    <p:extLst>
      <p:ext uri="{BB962C8B-B14F-4D97-AF65-F5344CB8AC3E}">
        <p14:creationId xmlns:p14="http://schemas.microsoft.com/office/powerpoint/2010/main" val="76304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4F02-6DE5-4CF0-9F38-83695CFA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US" dirty="0"/>
              <a:t>Ever happen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66C99-2788-4D22-A09D-DAD6A5065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1FE48-9745-4AD1-8BAD-9BC5E8423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77" y="839469"/>
            <a:ext cx="5392913" cy="51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1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6942E-0381-4774-933E-D39D4E28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5185" y="1298448"/>
            <a:ext cx="2191108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900" spc="-100" dirty="0">
                <a:solidFill>
                  <a:schemeClr val="accent1"/>
                </a:solidFill>
              </a:rPr>
              <a:t>How about this?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9D1C2-2663-441D-8FC5-EEA6A3332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23" y="752748"/>
            <a:ext cx="3512773" cy="58370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1FC77-92FA-4044-B5D3-40E218FFFBC9}"/>
              </a:ext>
            </a:extLst>
          </p:cNvPr>
          <p:cNvSpPr txBox="1"/>
          <p:nvPr/>
        </p:nvSpPr>
        <p:spPr>
          <a:xfrm>
            <a:off x="5013641" y="6263117"/>
            <a:ext cx="184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xkcd.com</a:t>
            </a:r>
          </a:p>
        </p:txBody>
      </p:sp>
    </p:spTree>
    <p:extLst>
      <p:ext uri="{BB962C8B-B14F-4D97-AF65-F5344CB8AC3E}">
        <p14:creationId xmlns:p14="http://schemas.microsoft.com/office/powerpoint/2010/main" val="3657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5CF2FC8-D184-4B10-83A5-61FC2148B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3848"/>
            <a:ext cx="5608255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762BD-420F-476C-8434-9C5AD3EA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123837"/>
            <a:ext cx="4998963" cy="1255469"/>
          </a:xfrm>
        </p:spPr>
        <p:txBody>
          <a:bodyPr>
            <a:normAutofit/>
          </a:bodyPr>
          <a:lstStyle/>
          <a:p>
            <a:r>
              <a:rPr lang="en-US" dirty="0"/>
              <a:t>So true…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A4859-7BF0-4A88-9EF2-C277B9A2A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998962" cy="3274586"/>
          </a:xfrm>
        </p:spPr>
        <p:txBody>
          <a:bodyPr anchor="t"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6AA7B-B209-4485-8866-487C83875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4051"/>
            <a:ext cx="4882423" cy="650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8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6BA9-5ABF-439B-8044-65185330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146629" cy="4601183"/>
          </a:xfrm>
        </p:spPr>
        <p:txBody>
          <a:bodyPr>
            <a:normAutofit fontScale="90000"/>
          </a:bodyPr>
          <a:lstStyle/>
          <a:p>
            <a:r>
              <a:rPr lang="en-US" dirty="0"/>
              <a:t>Git solves this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 is a version control system (VCS) used by the most valuable software projects in the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25147-0EE2-4224-8854-36409AC16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“Great! Sign me up!”</a:t>
            </a:r>
          </a:p>
        </p:txBody>
      </p:sp>
    </p:spTree>
    <p:extLst>
      <p:ext uri="{BB962C8B-B14F-4D97-AF65-F5344CB8AC3E}">
        <p14:creationId xmlns:p14="http://schemas.microsoft.com/office/powerpoint/2010/main" val="29681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7EFF-B0FF-459F-A656-958785DA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TANSTAAFL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DCA5B-A703-4127-91F4-27AF7004F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in reality a person or a society cannot get "something for nothing". Even if something appears to be free, there is always a cost to the person or to society as a whole…</a:t>
            </a:r>
          </a:p>
          <a:p>
            <a:endParaRPr lang="en-US" dirty="0"/>
          </a:p>
          <a:p>
            <a:r>
              <a:rPr lang="en-US" dirty="0"/>
              <a:t>You’ll have to learn Git</a:t>
            </a:r>
          </a:p>
          <a:p>
            <a:r>
              <a:rPr lang="en-US" dirty="0"/>
              <a:t>There is a learning 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D608F-E1B6-452B-8B00-462095E985C3}"/>
              </a:ext>
            </a:extLst>
          </p:cNvPr>
          <p:cNvSpPr txBox="1"/>
          <p:nvPr/>
        </p:nvSpPr>
        <p:spPr>
          <a:xfrm>
            <a:off x="9115951" y="4280290"/>
            <a:ext cx="260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https://en.wikipedia.org/</a:t>
            </a:r>
          </a:p>
        </p:txBody>
      </p:sp>
    </p:spTree>
    <p:extLst>
      <p:ext uri="{BB962C8B-B14F-4D97-AF65-F5344CB8AC3E}">
        <p14:creationId xmlns:p14="http://schemas.microsoft.com/office/powerpoint/2010/main" val="345940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C8ED-DF91-482B-8FF2-38A6B6D5C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perceived difficulty of Git has spawned many comics and memes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36888-BD8F-4F36-91F2-659BFDF32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859" y="588359"/>
            <a:ext cx="3921844" cy="5672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5DCFCF-FB98-4682-B36D-90CC705FD45C}"/>
              </a:ext>
            </a:extLst>
          </p:cNvPr>
          <p:cNvSpPr txBox="1"/>
          <p:nvPr/>
        </p:nvSpPr>
        <p:spPr>
          <a:xfrm>
            <a:off x="3490806" y="6233826"/>
            <a:ext cx="184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xkcd.com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1E882-D1DD-4BB8-B9D5-A0EACF1F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236" y="913032"/>
            <a:ext cx="4109845" cy="2424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CB2FE-E417-45BF-8442-058B357B7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644" y="3839225"/>
            <a:ext cx="3508378" cy="228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54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8A3F-0856-4595-808A-DD72629E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my presentation is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5F684-C1EC-44C5-880A-EB345A54D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“intro to Git” presentations show trivial examples that are not related to your workflow as a demographer.</a:t>
            </a:r>
          </a:p>
          <a:p>
            <a:r>
              <a:rPr lang="en-US" dirty="0"/>
              <a:t>At best, you see Git as “interesting,” at worst it’s confusing and irrelevant.</a:t>
            </a:r>
          </a:p>
          <a:p>
            <a:r>
              <a:rPr lang="en-US" dirty="0"/>
              <a:t>You remain unconvinced of the value of Git, and so the decision to learn Git is a leap of faith.</a:t>
            </a:r>
          </a:p>
          <a:p>
            <a:pPr lvl="1"/>
            <a:r>
              <a:rPr lang="en-US" dirty="0"/>
              <a:t>Therefore, you don’t put in the effort to learn Git.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16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1D80-8F86-4A60-9D0D-F69E624A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without a true version control system (VCS)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745BA-D28A-4C6B-90C0-EAECC86F91D6}"/>
              </a:ext>
            </a:extLst>
          </p:cNvPr>
          <p:cNvSpPr txBox="1"/>
          <p:nvPr/>
        </p:nvSpPr>
        <p:spPr>
          <a:xfrm>
            <a:off x="3688747" y="406404"/>
            <a:ext cx="5217129" cy="3416320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recodes.do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set </a:t>
            </a:r>
            <a:r>
              <a:rPr lang="en-US" dirty="0" err="1">
                <a:latin typeface="Consolas" panose="020B0609020204030204" pitchFamily="49" charset="0"/>
              </a:rPr>
              <a:t>maxvar</a:t>
            </a:r>
            <a:r>
              <a:rPr lang="en-US" dirty="0">
                <a:latin typeface="Consolas" panose="020B0609020204030204" pitchFamily="49" charset="0"/>
              </a:rPr>
              <a:t> 30000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use GSS7218_R1.DTA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female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1 if (sex == 2)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0 if (sex == 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educ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374CC-7C70-40A2-B9D9-40BE8BA749D7}"/>
              </a:ext>
            </a:extLst>
          </p:cNvPr>
          <p:cNvSpPr txBox="1"/>
          <p:nvPr/>
        </p:nvSpPr>
        <p:spPr>
          <a:xfrm>
            <a:off x="4855559" y="4280428"/>
            <a:ext cx="5217129" cy="923330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models.do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reg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female</a:t>
            </a:r>
          </a:p>
        </p:txBody>
      </p:sp>
    </p:spTree>
    <p:extLst>
      <p:ext uri="{BB962C8B-B14F-4D97-AF65-F5344CB8AC3E}">
        <p14:creationId xmlns:p14="http://schemas.microsoft.com/office/powerpoint/2010/main" val="2906161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DBC00-B351-4F57-8490-44FAB8AE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7" y="762000"/>
            <a:ext cx="7462083" cy="5334000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7200" spc="-100" dirty="0">
              <a:solidFill>
                <a:schemeClr val="accent1"/>
              </a:solidFill>
            </a:endParaRPr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55C7E-E98F-4FE6-83B0-99EBBA497A7C}"/>
              </a:ext>
            </a:extLst>
          </p:cNvPr>
          <p:cNvSpPr txBox="1"/>
          <p:nvPr/>
        </p:nvSpPr>
        <p:spPr>
          <a:xfrm>
            <a:off x="1779418" y="970762"/>
            <a:ext cx="8036095" cy="3231654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. reg </a:t>
            </a:r>
            <a:r>
              <a:rPr lang="en-US" sz="1200" dirty="0" err="1">
                <a:latin typeface="Consolas" panose="020B0609020204030204" pitchFamily="49" charset="0"/>
              </a:rPr>
              <a:t>yearseduc</a:t>
            </a:r>
            <a:r>
              <a:rPr lang="en-US" sz="1200" dirty="0">
                <a:latin typeface="Consolas" panose="020B0609020204030204" pitchFamily="49" charset="0"/>
              </a:rPr>
              <a:t> female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  Source |       SS           df       MS      Number of </a:t>
            </a:r>
            <a:r>
              <a:rPr lang="en-US" sz="1200" dirty="0" err="1">
                <a:latin typeface="Consolas" panose="020B0609020204030204" pitchFamily="49" charset="0"/>
              </a:rPr>
              <a:t>obs</a:t>
            </a:r>
            <a:r>
              <a:rPr lang="en-US" sz="1200" dirty="0">
                <a:latin typeface="Consolas" panose="020B0609020204030204" pitchFamily="49" charset="0"/>
              </a:rPr>
              <a:t>   =    64,637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   F(1, 64635)     =     77.42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Model |  780.201576         1  780.201576   Prob &gt; F        =    0.0000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Residual |  651331.177    64,635  10.0770663   R-squared       =    0.0012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   Adj R-squared   =    0.0012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Total |  652111.379    64,636   10.088981   Root MSE        =    3.1744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dirty="0" err="1">
                <a:latin typeface="Consolas" panose="020B0609020204030204" pitchFamily="49" charset="0"/>
              </a:rPr>
              <a:t>yearseduc</a:t>
            </a:r>
            <a:r>
              <a:rPr lang="en-US" sz="1200" dirty="0">
                <a:latin typeface="Consolas" panose="020B0609020204030204" pitchFamily="49" charset="0"/>
              </a:rPr>
              <a:t> |      Coef.   Std. Err.      t    P&gt;|t|     [95% Conf. Interval]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female |  -.2212475   .0251444    -8.80   0.000    -.2705306   -.1719643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_cons |   12.99324   .0187899   691.50   0.000     12.95641    13.03007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68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7906-0793-427F-861B-92DA84F84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“Great but…”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05D5-C59C-48AD-BEFF-086788489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race (white/non-white)</a:t>
            </a:r>
          </a:p>
          <a:p>
            <a:r>
              <a:rPr lang="en-US" dirty="0"/>
              <a:t>Make years education ordinal categories</a:t>
            </a:r>
          </a:p>
        </p:txBody>
      </p:sp>
    </p:spTree>
    <p:extLst>
      <p:ext uri="{BB962C8B-B14F-4D97-AF65-F5344CB8AC3E}">
        <p14:creationId xmlns:p14="http://schemas.microsoft.com/office/powerpoint/2010/main" val="421534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1D80-8F86-4A60-9D0D-F69E624A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next 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745BA-D28A-4C6B-90C0-EAECC86F91D6}"/>
              </a:ext>
            </a:extLst>
          </p:cNvPr>
          <p:cNvSpPr txBox="1"/>
          <p:nvPr/>
        </p:nvSpPr>
        <p:spPr>
          <a:xfrm>
            <a:off x="3548502" y="321636"/>
            <a:ext cx="6622095" cy="5016758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Consolas" panose="020B0609020204030204" pitchFamily="49" charset="0"/>
              </a:rPr>
              <a:t>recodes2.do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set </a:t>
            </a:r>
            <a:r>
              <a:rPr lang="en-US" sz="1400" dirty="0" err="1">
                <a:latin typeface="Consolas" panose="020B0609020204030204" pitchFamily="49" charset="0"/>
              </a:rPr>
              <a:t>maxvar</a:t>
            </a:r>
            <a:r>
              <a:rPr lang="en-US" sz="1400" dirty="0">
                <a:latin typeface="Consolas" panose="020B0609020204030204" pitchFamily="49" charset="0"/>
              </a:rPr>
              <a:t> 30000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use GSS7218_R1.DTA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female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female = 1 if (sex == 2)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female = 0 if (sex == 1)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1 if (educ &lt;= 11) &amp; (educ&gt;=0)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2 if (educ ==12)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3 if (educ &lt;= 15) &amp; (educ&gt;=13)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4 if (educ &lt;= 20) &amp; (educ&gt;=16)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white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white = 1 if (race == 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white = 0 if (race == 2) | (race == 3)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374CC-7C70-40A2-B9D9-40BE8BA749D7}"/>
              </a:ext>
            </a:extLst>
          </p:cNvPr>
          <p:cNvSpPr txBox="1"/>
          <p:nvPr/>
        </p:nvSpPr>
        <p:spPr>
          <a:xfrm>
            <a:off x="6241183" y="5687934"/>
            <a:ext cx="5217129" cy="738664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Consolas" panose="020B0609020204030204" pitchFamily="49" charset="0"/>
              </a:rPr>
              <a:t>models2.do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reg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female white</a:t>
            </a:r>
          </a:p>
        </p:txBody>
      </p:sp>
    </p:spTree>
    <p:extLst>
      <p:ext uri="{BB962C8B-B14F-4D97-AF65-F5344CB8AC3E}">
        <p14:creationId xmlns:p14="http://schemas.microsoft.com/office/powerpoint/2010/main" val="3972931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DBC00-B351-4F57-8490-44FAB8AE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7" y="762000"/>
            <a:ext cx="7462083" cy="5334000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7200" spc="-100" dirty="0">
              <a:solidFill>
                <a:schemeClr val="accent1"/>
              </a:solidFill>
            </a:endParaRPr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55C7E-E98F-4FE6-83B0-99EBBA497A7C}"/>
              </a:ext>
            </a:extLst>
          </p:cNvPr>
          <p:cNvSpPr txBox="1"/>
          <p:nvPr/>
        </p:nvSpPr>
        <p:spPr>
          <a:xfrm>
            <a:off x="1779418" y="970762"/>
            <a:ext cx="8036095" cy="3231654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. reg </a:t>
            </a:r>
            <a:r>
              <a:rPr lang="en-US" sz="1200" dirty="0" err="1">
                <a:latin typeface="Consolas" panose="020B0609020204030204" pitchFamily="49" charset="0"/>
              </a:rPr>
              <a:t>yearseduc</a:t>
            </a:r>
            <a:r>
              <a:rPr lang="en-US" sz="1200" dirty="0">
                <a:latin typeface="Consolas" panose="020B0609020204030204" pitchFamily="49" charset="0"/>
              </a:rPr>
              <a:t> female white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  Source |       SS           df       MS      Number of </a:t>
            </a:r>
            <a:r>
              <a:rPr lang="en-US" sz="1200" dirty="0" err="1">
                <a:latin typeface="Consolas" panose="020B0609020204030204" pitchFamily="49" charset="0"/>
              </a:rPr>
              <a:t>obs</a:t>
            </a:r>
            <a:r>
              <a:rPr lang="en-US" sz="1200" dirty="0">
                <a:latin typeface="Consolas" panose="020B0609020204030204" pitchFamily="49" charset="0"/>
              </a:rPr>
              <a:t>   =    64,637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   F(2, 64634)     =    259.56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Model |  599.362977         2  299.681489   Prob &gt; F        =    0.0000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Residual |  74624.1946    64,634  1.15456563   R-squared       =    0.0080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   Adj R-squared   =    0.0079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Total |  75223.5576    64,636   1.1638028   Root MSE        =    1.0745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dirty="0" err="1">
                <a:latin typeface="Consolas" panose="020B0609020204030204" pitchFamily="49" charset="0"/>
              </a:rPr>
              <a:t>yearseduc</a:t>
            </a:r>
            <a:r>
              <a:rPr lang="en-US" sz="1200" dirty="0">
                <a:latin typeface="Consolas" panose="020B0609020204030204" pitchFamily="49" charset="0"/>
              </a:rPr>
              <a:t> |      Coef.   Std. Err.      t    P&gt;|t|     [95% Conf. Interval]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female |  -.0795075   .0085161    -9.34   0.000     -.096199    -.062816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white |   .2175207   .0106361    20.45   0.000     .1966739    .2383674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_cons |   2.350546   .0107816   218.02   0.000     2.329414    2.371678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005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7906-0793-427F-861B-92DA84F84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“Great but…”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05D5-C59C-48AD-BEFF-086788489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weights</a:t>
            </a:r>
          </a:p>
        </p:txBody>
      </p:sp>
    </p:spTree>
    <p:extLst>
      <p:ext uri="{BB962C8B-B14F-4D97-AF65-F5344CB8AC3E}">
        <p14:creationId xmlns:p14="http://schemas.microsoft.com/office/powerpoint/2010/main" val="218998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1D80-8F86-4A60-9D0D-F69E624A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try…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9FEA5C-6D8A-44B6-AE76-5734D3EC0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374CC-7C70-40A2-B9D9-40BE8BA749D7}"/>
              </a:ext>
            </a:extLst>
          </p:cNvPr>
          <p:cNvSpPr txBox="1"/>
          <p:nvPr/>
        </p:nvSpPr>
        <p:spPr>
          <a:xfrm>
            <a:off x="4496531" y="1991065"/>
            <a:ext cx="5217129" cy="738664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Consolas" panose="020B0609020204030204" pitchFamily="49" charset="0"/>
              </a:rPr>
              <a:t>models3.do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reg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female white [weight=</a:t>
            </a:r>
            <a:r>
              <a:rPr lang="en-US" sz="1400" dirty="0" err="1">
                <a:latin typeface="Consolas" panose="020B0609020204030204" pitchFamily="49" charset="0"/>
              </a:rPr>
              <a:t>wtssall</a:t>
            </a:r>
            <a:r>
              <a:rPr lang="en-US" sz="1400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58944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DBC00-B351-4F57-8490-44FAB8AE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7" y="762000"/>
            <a:ext cx="7462083" cy="5334000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7200" spc="-100" dirty="0">
              <a:solidFill>
                <a:schemeClr val="accent1"/>
              </a:solidFill>
            </a:endParaRPr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55C7E-E98F-4FE6-83B0-99EBBA497A7C}"/>
              </a:ext>
            </a:extLst>
          </p:cNvPr>
          <p:cNvSpPr txBox="1"/>
          <p:nvPr/>
        </p:nvSpPr>
        <p:spPr>
          <a:xfrm>
            <a:off x="1779418" y="970762"/>
            <a:ext cx="8036095" cy="3600986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. reg </a:t>
            </a:r>
            <a:r>
              <a:rPr lang="en-US" sz="1200" dirty="0" err="1">
                <a:latin typeface="Consolas" panose="020B0609020204030204" pitchFamily="49" charset="0"/>
              </a:rPr>
              <a:t>yearseduc</a:t>
            </a:r>
            <a:r>
              <a:rPr lang="en-US" sz="1200" dirty="0">
                <a:latin typeface="Consolas" panose="020B0609020204030204" pitchFamily="49" charset="0"/>
              </a:rPr>
              <a:t> female white [weight=</a:t>
            </a:r>
            <a:r>
              <a:rPr lang="en-US" sz="1200" dirty="0" err="1">
                <a:latin typeface="Consolas" panose="020B0609020204030204" pitchFamily="49" charset="0"/>
              </a:rPr>
              <a:t>wtssall</a:t>
            </a:r>
            <a:r>
              <a:rPr lang="en-US" sz="1200" dirty="0"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(analytic weights assumed)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(sum of </a:t>
            </a:r>
            <a:r>
              <a:rPr lang="en-US" sz="1200" dirty="0" err="1">
                <a:latin typeface="Consolas" panose="020B0609020204030204" pitchFamily="49" charset="0"/>
              </a:rPr>
              <a:t>wgt</a:t>
            </a:r>
            <a:r>
              <a:rPr lang="en-US" sz="1200" dirty="0">
                <a:latin typeface="Consolas" panose="020B0609020204030204" pitchFamily="49" charset="0"/>
              </a:rPr>
              <a:t> is 64,649.406117437)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  Source |       SS           df       MS      Number of </a:t>
            </a:r>
            <a:r>
              <a:rPr lang="en-US" sz="1200" dirty="0" err="1">
                <a:latin typeface="Consolas" panose="020B0609020204030204" pitchFamily="49" charset="0"/>
              </a:rPr>
              <a:t>obs</a:t>
            </a:r>
            <a:r>
              <a:rPr lang="en-US" sz="1200" dirty="0">
                <a:latin typeface="Consolas" panose="020B0609020204030204" pitchFamily="49" charset="0"/>
              </a:rPr>
              <a:t>   =    64,637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   F(2, 64634)     =    229.41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Model |  521.791574         2  260.895787   Prob &gt; F        =    0.0000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Residual |  73505.6219    64,634  1.13725937   R-squared       =    0.0070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   Adj R-squared   =    0.0070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Total |  74027.4135    64,636  1.14529695   Root MSE        =    1.0664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dirty="0" err="1">
                <a:latin typeface="Consolas" panose="020B0609020204030204" pitchFamily="49" charset="0"/>
              </a:rPr>
              <a:t>yearseduc</a:t>
            </a:r>
            <a:r>
              <a:rPr lang="en-US" sz="1200" dirty="0">
                <a:latin typeface="Consolas" panose="020B0609020204030204" pitchFamily="49" charset="0"/>
              </a:rPr>
              <a:t> |      Coef.   Std. Err.      t    P&gt;|t|     [95% Conf. Interval]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-------------+----------------------------------------------------------------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female |  -.0548049   .0084231    -6.51   0.000    -.0713142   -.0382957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white |   .2135525   .0105487    20.24   0.000      .192877    .2342281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_cons |   2.336966     .01059   220.68   0.000     2.316209    2.357722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106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719E-0F2A-4581-8906-F4986887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Months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26A57-C81D-42A1-995A-FF3DEBB3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then…</a:t>
            </a:r>
          </a:p>
          <a:p>
            <a:endParaRPr lang="en-US" dirty="0"/>
          </a:p>
          <a:p>
            <a:r>
              <a:rPr lang="en-US" dirty="0"/>
              <a:t>“Let’s go back to the original models: predicting years of schooling with female, no weights. Send me the most recent code so I can replicate it and then try some ideas.”</a:t>
            </a:r>
          </a:p>
        </p:txBody>
      </p:sp>
    </p:spTree>
    <p:extLst>
      <p:ext uri="{BB962C8B-B14F-4D97-AF65-F5344CB8AC3E}">
        <p14:creationId xmlns:p14="http://schemas.microsoft.com/office/powerpoint/2010/main" val="2918150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E6BD-55C7-4FA9-9324-47E2F737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I do 4 months ago?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FC00A-494D-415A-821B-138353B69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B8245-742D-4E2E-B591-482EA2B40224}"/>
              </a:ext>
            </a:extLst>
          </p:cNvPr>
          <p:cNvSpPr txBox="1"/>
          <p:nvPr/>
        </p:nvSpPr>
        <p:spPr>
          <a:xfrm>
            <a:off x="3869268" y="864108"/>
            <a:ext cx="7428901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C:\users\you&gt;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dir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recodes.do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recodes2.do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models.do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models2.do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models3.do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8B0F96-E367-4244-9966-E4424CB8A24D}"/>
              </a:ext>
            </a:extLst>
          </p:cNvPr>
          <p:cNvSpPr txBox="1">
            <a:spLocks/>
          </p:cNvSpPr>
          <p:nvPr/>
        </p:nvSpPr>
        <p:spPr>
          <a:xfrm>
            <a:off x="3780446" y="971630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“Dear Prof. X -- here’s the most recent recodes and the original models file.”</a:t>
            </a:r>
          </a:p>
          <a:p>
            <a:r>
              <a:rPr lang="en-US" dirty="0"/>
              <a:t>Attached: recodes2.do, models.do</a:t>
            </a:r>
          </a:p>
        </p:txBody>
      </p:sp>
    </p:spTree>
    <p:extLst>
      <p:ext uri="{BB962C8B-B14F-4D97-AF65-F5344CB8AC3E}">
        <p14:creationId xmlns:p14="http://schemas.microsoft.com/office/powerpoint/2010/main" val="153162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78A0-8E33-4C8F-AADB-0F7FB12A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EMERGENCY 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BE2E5-30D3-4E9B-B8F0-868291C77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 ran the files you sent me, but I don’t replicate the original results. Then I looked over the prior results you sent me, and my results don’t replicate any of those, either. What’s going on?”</a:t>
            </a:r>
          </a:p>
          <a:p>
            <a:r>
              <a:rPr lang="en-US" dirty="0"/>
              <a:t>“I need to submit this ASAP so you have to work on this RIGHT NOW. See what I’m talking about in these attachments. Please fix.”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17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55C7E-E98F-4FE6-83B0-99EBBA497A7C}"/>
              </a:ext>
            </a:extLst>
          </p:cNvPr>
          <p:cNvSpPr txBox="1"/>
          <p:nvPr/>
        </p:nvSpPr>
        <p:spPr>
          <a:xfrm>
            <a:off x="439266" y="226948"/>
            <a:ext cx="6999350" cy="3139321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RESULTS NOW: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. reg </a:t>
            </a:r>
            <a:r>
              <a:rPr lang="en-US" sz="1100" dirty="0" err="1">
                <a:latin typeface="Consolas" panose="020B0609020204030204" pitchFamily="49" charset="0"/>
              </a:rPr>
              <a:t>yearseduc</a:t>
            </a:r>
            <a:r>
              <a:rPr lang="en-US" sz="1100" dirty="0">
                <a:latin typeface="Consolas" panose="020B0609020204030204" pitchFamily="49" charset="0"/>
              </a:rPr>
              <a:t> female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Source |       SS           df       MS      Number of </a:t>
            </a:r>
            <a:r>
              <a:rPr lang="en-US" sz="1100" dirty="0" err="1">
                <a:latin typeface="Consolas" panose="020B0609020204030204" pitchFamily="49" charset="0"/>
              </a:rPr>
              <a:t>obs</a:t>
            </a:r>
            <a:r>
              <a:rPr lang="en-US" sz="1100" dirty="0">
                <a:latin typeface="Consolas" panose="020B0609020204030204" pitchFamily="49" charset="0"/>
              </a:rPr>
              <a:t>   =    64,637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-------------+----------------------------------   F(1, 64635)     =    100.23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Model |  116.463349         1  116.463349   Prob &gt; F        =    0.0000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Residual |  75107.0942    64,635  1.16201894   R-squared       =    0.0015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-------------+----------------------------------   Adj R-squared   =    0.0015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Total |  75223.5576    64,636   1.1638028   Root MSE        =     1.078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</a:t>
            </a:r>
            <a:r>
              <a:rPr lang="en-US" sz="1100" dirty="0" err="1">
                <a:latin typeface="Consolas" panose="020B0609020204030204" pitchFamily="49" charset="0"/>
              </a:rPr>
              <a:t>yearseduc</a:t>
            </a:r>
            <a:r>
              <a:rPr lang="en-US" sz="1100" dirty="0">
                <a:latin typeface="Consolas" panose="020B0609020204030204" pitchFamily="49" charset="0"/>
              </a:rPr>
              <a:t> |      Coef.   Std. Err.      t    P&gt;|t|     [95% Conf. Interval]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-------------+----------------------------------------------------------------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female |   -.085481   .0085385   -10.01   0.000    -.1022164   -.0687455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_cons |   2.528589   .0063806   396.29   0.000     2.516083    2.541096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2F738E-4D7F-4835-876E-A8F10E8E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3F8824-5F4F-4CCA-ADC0-24BCF4F17F33}"/>
              </a:ext>
            </a:extLst>
          </p:cNvPr>
          <p:cNvSpPr txBox="1"/>
          <p:nvPr/>
        </p:nvSpPr>
        <p:spPr>
          <a:xfrm>
            <a:off x="4241021" y="3507739"/>
            <a:ext cx="7097352" cy="3139321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RESULTS FROM 4 MONTHS AGO: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. reg </a:t>
            </a:r>
            <a:r>
              <a:rPr lang="en-US" sz="1100" dirty="0" err="1">
                <a:latin typeface="Consolas" panose="020B0609020204030204" pitchFamily="49" charset="0"/>
              </a:rPr>
              <a:t>yearseduc</a:t>
            </a:r>
            <a:r>
              <a:rPr lang="en-US" sz="1100" dirty="0">
                <a:latin typeface="Consolas" panose="020B0609020204030204" pitchFamily="49" charset="0"/>
              </a:rPr>
              <a:t> female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Source |       SS           df       MS      Number of </a:t>
            </a:r>
            <a:r>
              <a:rPr lang="en-US" sz="1100" dirty="0" err="1">
                <a:latin typeface="Consolas" panose="020B0609020204030204" pitchFamily="49" charset="0"/>
              </a:rPr>
              <a:t>obs</a:t>
            </a:r>
            <a:r>
              <a:rPr lang="en-US" sz="1100" dirty="0">
                <a:latin typeface="Consolas" panose="020B0609020204030204" pitchFamily="49" charset="0"/>
              </a:rPr>
              <a:t>   =    64,637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-------------+----------------------------------   F(1, 64635)     =     77.42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Model |  780.201576         1  780.201576   Prob &gt; F        =    0.0000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Residual |  651331.177    64,635  10.0770663   R-squared       =    0.0012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-------------+----------------------------------   Adj R-squared   =    0.0012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Total |  652111.379    64,636   10.088981   Root MSE        =    3.1744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</a:t>
            </a:r>
            <a:r>
              <a:rPr lang="en-US" sz="1100" dirty="0" err="1">
                <a:latin typeface="Consolas" panose="020B0609020204030204" pitchFamily="49" charset="0"/>
              </a:rPr>
              <a:t>yearseduc</a:t>
            </a:r>
            <a:r>
              <a:rPr lang="en-US" sz="1100" dirty="0">
                <a:latin typeface="Consolas" panose="020B0609020204030204" pitchFamily="49" charset="0"/>
              </a:rPr>
              <a:t> |      Coef.   Std. Err.      t    P&gt;|t|     [95% Conf. Interval]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-------------+----------------------------------------------------------------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female |  -.2212475   .0251444    -8.80   0.000    -.2705306   -.1719643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_cons |   12.99324   .0187899   691.50   0.000     12.95641    13.03007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------------------------------------------------------------------------------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912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5A26-FBB7-4B07-A814-85E21C54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71867-BE6B-47DA-BD00-001255DB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8744" y="864108"/>
            <a:ext cx="8266814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WELCOME TO AN AFTERNOON/EVENING/WEEKEND OF SUCK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798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BF26-8882-4B50-9042-5D462E7E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would this work with Git?</a:t>
            </a:r>
            <a:br>
              <a:rPr lang="en-US" dirty="0"/>
            </a:br>
            <a:br>
              <a:rPr lang="en-US" dirty="0"/>
            </a:br>
            <a:r>
              <a:rPr lang="en-US" sz="2200" dirty="0"/>
              <a:t>We document our changes by making snapshots with </a:t>
            </a:r>
            <a:r>
              <a:rPr lang="en-US" sz="2200" b="1" dirty="0"/>
              <a:t>commits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200" dirty="0"/>
              <a:t>We will work in a repository, or </a:t>
            </a:r>
            <a:r>
              <a:rPr lang="en-US" sz="2200" b="1" dirty="0"/>
              <a:t>repo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The repo contains all our code and commits</a:t>
            </a:r>
            <a:endParaRPr lang="en-US" sz="2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4F04-2E77-436A-8CBA-98531E726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94F38-B30D-406E-B794-9E02E2656F8C}"/>
              </a:ext>
            </a:extLst>
          </p:cNvPr>
          <p:cNvSpPr txBox="1"/>
          <p:nvPr/>
        </p:nvSpPr>
        <p:spPr>
          <a:xfrm>
            <a:off x="3728016" y="451283"/>
            <a:ext cx="5217129" cy="3416320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recodes.do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set </a:t>
            </a:r>
            <a:r>
              <a:rPr lang="en-US" dirty="0" err="1">
                <a:latin typeface="Consolas" panose="020B0609020204030204" pitchFamily="49" charset="0"/>
              </a:rPr>
              <a:t>maxvar</a:t>
            </a:r>
            <a:r>
              <a:rPr lang="en-US" dirty="0">
                <a:latin typeface="Consolas" panose="020B0609020204030204" pitchFamily="49" charset="0"/>
              </a:rPr>
              <a:t> 30000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use GSS7218_R1.DTA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female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1 if (sex == 2)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0 if (sex == 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educ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AA755C-D0F2-40B2-BD7F-6DC3079F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790" y="4568773"/>
            <a:ext cx="3751765" cy="182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5D9557-DD6A-4733-B166-983D6C27A5A4}"/>
              </a:ext>
            </a:extLst>
          </p:cNvPr>
          <p:cNvSpPr txBox="1"/>
          <p:nvPr/>
        </p:nvSpPr>
        <p:spPr>
          <a:xfrm>
            <a:off x="9968643" y="6378141"/>
            <a:ext cx="1778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What is master????</a:t>
            </a:r>
          </a:p>
        </p:txBody>
      </p:sp>
    </p:spTree>
    <p:extLst>
      <p:ext uri="{BB962C8B-B14F-4D97-AF65-F5344CB8AC3E}">
        <p14:creationId xmlns:p14="http://schemas.microsoft.com/office/powerpoint/2010/main" val="2726514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54B9-858E-46BE-867A-1C2B5E49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models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3D8E4-ECFF-4067-8EBF-581943D56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E9AC1-6A1B-497D-A0FA-270639F72D48}"/>
              </a:ext>
            </a:extLst>
          </p:cNvPr>
          <p:cNvSpPr txBox="1"/>
          <p:nvPr/>
        </p:nvSpPr>
        <p:spPr>
          <a:xfrm>
            <a:off x="4026884" y="1308628"/>
            <a:ext cx="5217129" cy="923330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models.do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reg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female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2671B-8A0B-4FCF-AC79-183D864B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090" y="4322976"/>
            <a:ext cx="3822192" cy="182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06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D90A-B50C-4F91-B5CE-5C7F805E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Recoding years educ as ordinal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B734-EED8-49BD-8BA8-CAA1DC618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CE6CF-8A34-4E7F-8179-003ED4E2C807}"/>
              </a:ext>
            </a:extLst>
          </p:cNvPr>
          <p:cNvSpPr txBox="1"/>
          <p:nvPr/>
        </p:nvSpPr>
        <p:spPr>
          <a:xfrm>
            <a:off x="3798533" y="485942"/>
            <a:ext cx="6622095" cy="3600986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Consolas" panose="020B0609020204030204" pitchFamily="49" charset="0"/>
              </a:rPr>
              <a:t>recodes.do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set </a:t>
            </a:r>
            <a:r>
              <a:rPr lang="en-US" sz="1400" dirty="0" err="1">
                <a:latin typeface="Consolas" panose="020B0609020204030204" pitchFamily="49" charset="0"/>
              </a:rPr>
              <a:t>maxvar</a:t>
            </a:r>
            <a:r>
              <a:rPr lang="en-US" sz="1400" dirty="0">
                <a:latin typeface="Consolas" panose="020B0609020204030204" pitchFamily="49" charset="0"/>
              </a:rPr>
              <a:t> 30000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use GSS7218_R1.DTA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female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female = 1 if (sex == 2)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female = 0 if (sex == 1)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1 if (educ &lt;= 11) &amp; (educ&gt;=0)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2 if (educ ==12)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3 if (educ &lt;= 15) &amp; (educ&gt;=13)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4 if (educ &lt;= 20) &amp; (educ&gt;=16)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AAA48-FA86-44F6-814D-339820E6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725" y="4534114"/>
            <a:ext cx="3732143" cy="18288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5EE832D-471C-4875-9AA5-DC9D8F1D4837}"/>
              </a:ext>
            </a:extLst>
          </p:cNvPr>
          <p:cNvSpPr/>
          <p:nvPr/>
        </p:nvSpPr>
        <p:spPr>
          <a:xfrm>
            <a:off x="9071378" y="465492"/>
            <a:ext cx="1598492" cy="4077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37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D90A-B50C-4F91-B5CE-5C7F805E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recode for white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B734-EED8-49BD-8BA8-CAA1DC618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CE6CF-8A34-4E7F-8179-003ED4E2C807}"/>
              </a:ext>
            </a:extLst>
          </p:cNvPr>
          <p:cNvSpPr txBox="1"/>
          <p:nvPr/>
        </p:nvSpPr>
        <p:spPr>
          <a:xfrm>
            <a:off x="3798533" y="485942"/>
            <a:ext cx="6622095" cy="4185761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Consolas" panose="020B0609020204030204" pitchFamily="49" charset="0"/>
              </a:rPr>
              <a:t>recodes.do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set </a:t>
            </a:r>
            <a:r>
              <a:rPr lang="en-US" sz="1400" dirty="0" err="1">
                <a:latin typeface="Consolas" panose="020B0609020204030204" pitchFamily="49" charset="0"/>
              </a:rPr>
              <a:t>maxvar</a:t>
            </a:r>
            <a:r>
              <a:rPr lang="en-US" sz="1400" dirty="0">
                <a:latin typeface="Consolas" panose="020B0609020204030204" pitchFamily="49" charset="0"/>
              </a:rPr>
              <a:t> 30000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use GSS7218_R1.DTA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female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female = 1 if (sex == 2)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female = 0 if (sex == 1)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1 if (educ &lt;= 11) &amp; (educ&gt;=0)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2 if (educ ==12)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3 if (educ &lt;= 15) &amp; (educ&gt;=13)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= 4 if (educ &lt;= 20) &amp; (educ&gt;=16)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gen white = 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white = 1 if (race == 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replace white = 0 if (race == 2) | (race == 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7B01B-FE75-4A45-BD86-F6F42B37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801" y="4917925"/>
            <a:ext cx="3757534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13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C333-9B14-42B2-9189-0E8977D4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your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8A271-C3DF-40B9-97F6-50318BDE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12C3E-CB8C-4994-B3BF-780A5320880D}"/>
              </a:ext>
            </a:extLst>
          </p:cNvPr>
          <p:cNvSpPr txBox="1"/>
          <p:nvPr/>
        </p:nvSpPr>
        <p:spPr>
          <a:xfrm>
            <a:off x="3998045" y="1694577"/>
            <a:ext cx="5217129" cy="738664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Consolas" panose="020B0609020204030204" pitchFamily="49" charset="0"/>
              </a:rPr>
              <a:t>models.do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reg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female white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9C206-B290-4F71-9786-A6EA1B09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868" y="3896220"/>
            <a:ext cx="3778512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55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C333-9B14-42B2-9189-0E8977D4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regressions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8A271-C3DF-40B9-97F6-50318BDE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12C3E-CB8C-4994-B3BF-780A5320880D}"/>
              </a:ext>
            </a:extLst>
          </p:cNvPr>
          <p:cNvSpPr txBox="1"/>
          <p:nvPr/>
        </p:nvSpPr>
        <p:spPr>
          <a:xfrm>
            <a:off x="3998045" y="1694577"/>
            <a:ext cx="5217129" cy="738664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Consolas" panose="020B0609020204030204" pitchFamily="49" charset="0"/>
              </a:rPr>
              <a:t>models.do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reg </a:t>
            </a:r>
            <a:r>
              <a:rPr lang="en-US" sz="1400" dirty="0" err="1">
                <a:latin typeface="Consolas" panose="020B0609020204030204" pitchFamily="49" charset="0"/>
              </a:rPr>
              <a:t>yearseduc</a:t>
            </a:r>
            <a:r>
              <a:rPr lang="en-US" sz="1400" dirty="0">
                <a:latin typeface="Consolas" panose="020B0609020204030204" pitchFamily="49" charset="0"/>
              </a:rPr>
              <a:t> female white [weight=</a:t>
            </a:r>
            <a:r>
              <a:rPr lang="en-US" sz="1400" dirty="0" err="1">
                <a:latin typeface="Consolas" panose="020B0609020204030204" pitchFamily="49" charset="0"/>
              </a:rPr>
              <a:t>wtssall</a:t>
            </a:r>
            <a:r>
              <a:rPr lang="en-US" sz="1400" dirty="0">
                <a:latin typeface="Consolas" panose="020B0609020204030204" pitchFamily="49" charset="0"/>
              </a:rPr>
              <a:t>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85BFC-58C5-4915-82B5-576DD9A88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084" y="3896220"/>
            <a:ext cx="377818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579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6E13-98D4-4CBE-BE70-DB98DA17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Git, what did we do differently?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DEC0-4CE2-4418-89DA-4C1B736D0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did our work as usual, except after each “significant unit of work,” we paused and made a </a:t>
            </a:r>
            <a:r>
              <a:rPr lang="en-US" b="1" dirty="0"/>
              <a:t>commit</a:t>
            </a:r>
            <a:r>
              <a:rPr lang="en-US" dirty="0"/>
              <a:t> with a brief comment.</a:t>
            </a:r>
          </a:p>
          <a:p>
            <a:endParaRPr lang="en-US" dirty="0"/>
          </a:p>
          <a:p>
            <a:r>
              <a:rPr lang="en-US" dirty="0"/>
              <a:t>Each commit takes a snapshot of the entire </a:t>
            </a:r>
            <a:r>
              <a:rPr lang="en-US" b="1" dirty="0"/>
              <a:t>repo</a:t>
            </a:r>
            <a:r>
              <a:rPr lang="en-US" dirty="0"/>
              <a:t> at that point in time.</a:t>
            </a:r>
          </a:p>
          <a:p>
            <a:endParaRPr lang="en-US" dirty="0"/>
          </a:p>
          <a:p>
            <a:r>
              <a:rPr lang="en-US" dirty="0"/>
              <a:t>How often you commit is up to you.</a:t>
            </a:r>
          </a:p>
        </p:txBody>
      </p:sp>
    </p:spTree>
    <p:extLst>
      <p:ext uri="{BB962C8B-B14F-4D97-AF65-F5344CB8AC3E}">
        <p14:creationId xmlns:p14="http://schemas.microsoft.com/office/powerpoint/2010/main" val="2054597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3342-D380-4CFF-90AB-71F9962E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A546-6CFB-45E8-833D-7FDAC9E2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Much nicer!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DC9DE-A7E5-48C0-91D9-DD3E6AF71722}"/>
              </a:ext>
            </a:extLst>
          </p:cNvPr>
          <p:cNvSpPr txBox="1"/>
          <p:nvPr/>
        </p:nvSpPr>
        <p:spPr>
          <a:xfrm>
            <a:off x="3947806" y="1627043"/>
            <a:ext cx="742890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C:\users\you&gt;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dir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recodes.do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models.do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622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EB9C-B369-4AB0-8F2C-C72F2547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also have a history of our commits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color coding on the right is a </a:t>
            </a:r>
            <a:r>
              <a:rPr lang="en-US" b="1" dirty="0"/>
              <a:t>diff</a:t>
            </a:r>
          </a:p>
        </p:txBody>
      </p:sp>
      <p:pic>
        <p:nvPicPr>
          <p:cNvPr id="8" name="Untitled Project">
            <a:hlinkClick r:id="" action="ppaction://media"/>
            <a:extLst>
              <a:ext uri="{FF2B5EF4-FFF2-40B4-BE49-F238E27FC236}">
                <a16:creationId xmlns:a16="http://schemas.microsoft.com/office/drawing/2014/main" id="{DB9B7130-4D61-402F-BAF0-1825AB6CF76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75843" y="777081"/>
            <a:ext cx="8198957" cy="5309394"/>
          </a:xfrm>
        </p:spPr>
      </p:pic>
    </p:spTree>
    <p:extLst>
      <p:ext uri="{BB962C8B-B14F-4D97-AF65-F5344CB8AC3E}">
        <p14:creationId xmlns:p14="http://schemas.microsoft.com/office/powerpoint/2010/main" val="53070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8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FC6E-37F4-4A30-A51E-350D3377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7246"/>
            <a:ext cx="3175156" cy="5995019"/>
          </a:xfr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4" name="Using Stata and Making a commit">
            <a:hlinkClick r:id="" action="ppaction://media"/>
            <a:extLst>
              <a:ext uri="{FF2B5EF4-FFF2-40B4-BE49-F238E27FC236}">
                <a16:creationId xmlns:a16="http://schemas.microsoft.com/office/drawing/2014/main" id="{60D5E1E3-B82D-4185-BBF5-9110FD4FC0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4782" y="61521"/>
            <a:ext cx="10102436" cy="673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7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2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DE45BA-D339-483B-888C-24755F8D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71" y="202773"/>
            <a:ext cx="5492589" cy="43120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BDB628-DE06-478D-BE89-E36A6F1BB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065" y="2012338"/>
            <a:ext cx="5502808" cy="415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5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DB7C-8FA5-4D3D-909D-918F5300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this commit history, we can avoid some suck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E2860-F709-4006-8BD1-000F6C6F8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“Let’s go back to the original models: predicting years of schooling with female, no weights. Send me the most recent code so I can replicate it and then try some ideas.”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378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432E-B8D4-4933-959A-EFD6355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find that commit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C234BF-303E-4888-B5CF-D227C6D5F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EFBCA-9B8C-4AC0-9ECE-D8234006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6" y="1123837"/>
            <a:ext cx="8498680" cy="452954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B3ED77E-F202-488C-BC4F-CC8731C09010}"/>
              </a:ext>
            </a:extLst>
          </p:cNvPr>
          <p:cNvSpPr/>
          <p:nvPr/>
        </p:nvSpPr>
        <p:spPr>
          <a:xfrm>
            <a:off x="8734790" y="2159955"/>
            <a:ext cx="671512" cy="3500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81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3342-D380-4CFF-90AB-71F9962E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 back to the snapshot of </a:t>
            </a:r>
            <a:r>
              <a:rPr lang="en-US" b="1" dirty="0"/>
              <a:t>all</a:t>
            </a:r>
            <a:r>
              <a:rPr lang="en-US" dirty="0"/>
              <a:t> our files at that point in time.</a:t>
            </a:r>
            <a:br>
              <a:rPr lang="en-US" dirty="0"/>
            </a:br>
            <a:br>
              <a:rPr lang="en-US" dirty="0"/>
            </a:br>
            <a:r>
              <a:rPr lang="en-US" sz="2200" dirty="0"/>
              <a:t>This will work with 2 files (like we have) or 20,000 files or…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A546-6CFB-45E8-833D-7FDAC9E2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This is now the contents of the files: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DC9DE-A7E5-48C0-91D9-DD3E6AF71722}"/>
              </a:ext>
            </a:extLst>
          </p:cNvPr>
          <p:cNvSpPr txBox="1"/>
          <p:nvPr/>
        </p:nvSpPr>
        <p:spPr>
          <a:xfrm>
            <a:off x="3953416" y="981914"/>
            <a:ext cx="742890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C:\users\you&gt; git checkout 87fddc5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88088-E780-44F5-BE1A-A33B301C2819}"/>
              </a:ext>
            </a:extLst>
          </p:cNvPr>
          <p:cNvSpPr txBox="1"/>
          <p:nvPr/>
        </p:nvSpPr>
        <p:spPr>
          <a:xfrm>
            <a:off x="3633926" y="2089518"/>
            <a:ext cx="5217129" cy="3416320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recodes.do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set </a:t>
            </a:r>
            <a:r>
              <a:rPr lang="en-US" dirty="0" err="1">
                <a:latin typeface="Consolas" panose="020B0609020204030204" pitchFamily="49" charset="0"/>
              </a:rPr>
              <a:t>maxvar</a:t>
            </a:r>
            <a:r>
              <a:rPr lang="en-US" dirty="0">
                <a:latin typeface="Consolas" panose="020B0609020204030204" pitchFamily="49" charset="0"/>
              </a:rPr>
              <a:t> 30000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use GSS7218_R1.DTA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female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1 if (sex == 2)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0 if (sex == 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educ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A1F1F-0ADA-4C4C-922F-33FB25A23800}"/>
              </a:ext>
            </a:extLst>
          </p:cNvPr>
          <p:cNvSpPr txBox="1"/>
          <p:nvPr/>
        </p:nvSpPr>
        <p:spPr>
          <a:xfrm>
            <a:off x="6242490" y="5690112"/>
            <a:ext cx="5217129" cy="923330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models.do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reg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female</a:t>
            </a:r>
          </a:p>
        </p:txBody>
      </p:sp>
    </p:spTree>
    <p:extLst>
      <p:ext uri="{BB962C8B-B14F-4D97-AF65-F5344CB8AC3E}">
        <p14:creationId xmlns:p14="http://schemas.microsoft.com/office/powerpoint/2010/main" val="1130303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13A6-CC49-463A-822C-FEF95FBE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you starting to understand the power of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B7531-242B-43BD-9011-E0252AF79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D882B-4725-45DE-BA40-C197B5509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216" y="1605153"/>
            <a:ext cx="66294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47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A9D6-BA5A-4EB7-B6AA-2F357E40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2AC57-4DC8-4EDE-A7ED-6B407126A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“Thanks, I replicated our original analyses.  But didn’t we also later do code for white and survey weights??? Can you send me that, but without the ordinal recoding?”</a:t>
            </a:r>
          </a:p>
        </p:txBody>
      </p:sp>
    </p:spTree>
    <p:extLst>
      <p:ext uri="{BB962C8B-B14F-4D97-AF65-F5344CB8AC3E}">
        <p14:creationId xmlns:p14="http://schemas.microsoft.com/office/powerpoint/2010/main" val="3621150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4F0B-5B79-48B9-BE1D-DCC0D74A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the commit history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63470-5915-494E-A85D-32DE523FD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7B98F5-0E9C-448E-BC8C-0F5C3139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8" y="777429"/>
            <a:ext cx="8551060" cy="3756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B66D5C-DEBA-4DE4-A4CB-4B595594991A}"/>
              </a:ext>
            </a:extLst>
          </p:cNvPr>
          <p:cNvSpPr txBox="1"/>
          <p:nvPr/>
        </p:nvSpPr>
        <p:spPr>
          <a:xfrm>
            <a:off x="7575794" y="4786765"/>
            <a:ext cx="305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wish I hadn’t done this…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790BC3-E341-4B5B-8182-AE04543C2281}"/>
              </a:ext>
            </a:extLst>
          </p:cNvPr>
          <p:cNvCxnSpPr/>
          <p:nvPr/>
        </p:nvCxnSpPr>
        <p:spPr>
          <a:xfrm flipH="1" flipV="1">
            <a:off x="6615113" y="3521869"/>
            <a:ext cx="911755" cy="13287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518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6FAC-6675-4653-840A-AF335B12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6896A-E9C4-4B8A-A127-7D67E61E2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E19C5-72B9-48B9-9E4D-1D4691C37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05" y="1536508"/>
            <a:ext cx="8322732" cy="36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38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E1434-359C-4DB8-8CCC-8C4EC621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conflict!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B9B8-6DA6-48AF-9F7D-361FBC1B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FEBE0-1F89-4A0F-9CCB-C8F619C1E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18" y="1514475"/>
            <a:ext cx="7486650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ECA453-E777-4D8A-96AE-C5879A569DF6}"/>
              </a:ext>
            </a:extLst>
          </p:cNvPr>
          <p:cNvSpPr txBox="1"/>
          <p:nvPr/>
        </p:nvSpPr>
        <p:spPr>
          <a:xfrm>
            <a:off x="3869268" y="5521601"/>
            <a:ext cx="7089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is telling you: “I can’t simply undo that commit, because it conflicts/interferes with other changes you have made after that commit.”</a:t>
            </a:r>
          </a:p>
        </p:txBody>
      </p:sp>
    </p:spTree>
    <p:extLst>
      <p:ext uri="{BB962C8B-B14F-4D97-AF65-F5344CB8AC3E}">
        <p14:creationId xmlns:p14="http://schemas.microsoft.com/office/powerpoint/2010/main" val="546966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B3D42-91F0-4A74-B9C8-C0C0926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merge conflict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70C97-F47C-4BC3-87DB-03361C088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8EF3C0-01B2-4DEF-8CC3-2F1410D20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519" y="555373"/>
            <a:ext cx="8008169" cy="5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078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31A366-4E1B-40DA-8485-EDE39DBAC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62" y="1364925"/>
            <a:ext cx="8227219" cy="37486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0BB46F-CF27-4268-B830-D6917DA0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Resolve the merge conflict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D3235-E8ED-4CD5-B83F-0D1815EA4DBD}"/>
              </a:ext>
            </a:extLst>
          </p:cNvPr>
          <p:cNvSpPr/>
          <p:nvPr/>
        </p:nvSpPr>
        <p:spPr>
          <a:xfrm>
            <a:off x="4400550" y="3871914"/>
            <a:ext cx="6783918" cy="10927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419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DF3B-FCCD-4CEE-B439-AF7BFA2D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commit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13A25-5886-438C-AEE3-99F23A762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73E1D-8489-49C7-8481-147CBE3A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113" y="1313989"/>
            <a:ext cx="8538162" cy="422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96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2F03-618A-4A27-82A5-5A72E048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state of our repository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A4EB5-E88A-47C9-9204-4EE910F13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14546-7339-4B31-AAF4-0639689C9A1A}"/>
              </a:ext>
            </a:extLst>
          </p:cNvPr>
          <p:cNvSpPr txBox="1"/>
          <p:nvPr/>
        </p:nvSpPr>
        <p:spPr>
          <a:xfrm>
            <a:off x="3562489" y="414052"/>
            <a:ext cx="6117292" cy="4524315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recodes.do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set </a:t>
            </a:r>
            <a:r>
              <a:rPr lang="en-US" dirty="0" err="1">
                <a:latin typeface="Consolas" panose="020B0609020204030204" pitchFamily="49" charset="0"/>
              </a:rPr>
              <a:t>maxvar</a:t>
            </a:r>
            <a:r>
              <a:rPr lang="en-US" dirty="0">
                <a:latin typeface="Consolas" panose="020B0609020204030204" pitchFamily="49" charset="0"/>
              </a:rPr>
              <a:t> 30000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use GSS7218_R1.DTA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female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1 if (sex == 2)</a:t>
            </a:r>
          </a:p>
          <a:p>
            <a:r>
              <a:rPr lang="en-US" dirty="0">
                <a:latin typeface="Consolas" panose="020B0609020204030204" pitchFamily="49" charset="0"/>
              </a:rPr>
              <a:t>replace female = 0 if (sex == 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= educ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gen white = .</a:t>
            </a:r>
          </a:p>
          <a:p>
            <a:r>
              <a:rPr lang="en-US" dirty="0">
                <a:latin typeface="Consolas" panose="020B0609020204030204" pitchFamily="49" charset="0"/>
              </a:rPr>
              <a:t>replace white = 1 if (race == 1)</a:t>
            </a:r>
          </a:p>
          <a:p>
            <a:r>
              <a:rPr lang="en-US" dirty="0">
                <a:latin typeface="Consolas" panose="020B0609020204030204" pitchFamily="49" charset="0"/>
              </a:rPr>
              <a:t>replace white = 0 if (race == 2) | (race ==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F70A2-6D91-4682-B2CC-FD13BE9C9469}"/>
              </a:ext>
            </a:extLst>
          </p:cNvPr>
          <p:cNvSpPr txBox="1"/>
          <p:nvPr/>
        </p:nvSpPr>
        <p:spPr>
          <a:xfrm>
            <a:off x="5379244" y="5263355"/>
            <a:ext cx="6176297" cy="923330"/>
          </a:xfrm>
          <a:prstGeom prst="rect">
            <a:avLst/>
          </a:prstGeom>
          <a:solidFill>
            <a:srgbClr val="FFFAC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Consolas" panose="020B0609020204030204" pitchFamily="49" charset="0"/>
              </a:rPr>
              <a:t>models.do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reg </a:t>
            </a:r>
            <a:r>
              <a:rPr lang="en-US" dirty="0" err="1">
                <a:latin typeface="Consolas" panose="020B0609020204030204" pitchFamily="49" charset="0"/>
              </a:rPr>
              <a:t>yearseduc</a:t>
            </a:r>
            <a:r>
              <a:rPr lang="en-US" dirty="0">
                <a:latin typeface="Consolas" panose="020B0609020204030204" pitchFamily="49" charset="0"/>
              </a:rPr>
              <a:t> female white [weight=</a:t>
            </a:r>
            <a:r>
              <a:rPr lang="en-US" dirty="0" err="1">
                <a:latin typeface="Consolas" panose="020B0609020204030204" pitchFamily="49" charset="0"/>
              </a:rPr>
              <a:t>wtssall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966DB5-497E-4723-B11D-A832D8672274}"/>
              </a:ext>
            </a:extLst>
          </p:cNvPr>
          <p:cNvSpPr/>
          <p:nvPr/>
        </p:nvSpPr>
        <p:spPr>
          <a:xfrm>
            <a:off x="5104934" y="4818832"/>
            <a:ext cx="6834147" cy="19522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735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B10B-2E3E-438B-A07B-59734168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benefit of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EF31-C682-49AA-B117-551F03ED6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Freedom to make changes to your code without feeling anxiety about “messing it up”</a:t>
            </a:r>
          </a:p>
        </p:txBody>
      </p:sp>
    </p:spTree>
    <p:extLst>
      <p:ext uri="{BB962C8B-B14F-4D97-AF65-F5344CB8AC3E}">
        <p14:creationId xmlns:p14="http://schemas.microsoft.com/office/powerpoint/2010/main" val="31466657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4716-1660-4841-8DF5-B6DBC825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yourself…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287C6-FC74-46C6-A579-6B5EFDB5A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is an essential tool for organized and reproducible quantitative research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Do you agree? Then you’ll put in the effort to learn</a:t>
            </a:r>
          </a:p>
          <a:p>
            <a:pPr lvl="1"/>
            <a:r>
              <a:rPr lang="en-US" dirty="0"/>
              <a:t>Skeptical? Then it’s still a leap of faith.</a:t>
            </a:r>
          </a:p>
        </p:txBody>
      </p:sp>
    </p:spTree>
    <p:extLst>
      <p:ext uri="{BB962C8B-B14F-4D97-AF65-F5344CB8AC3E}">
        <p14:creationId xmlns:p14="http://schemas.microsoft.com/office/powerpoint/2010/main" val="10989829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1A92-FF35-4274-885E-4F9C8D9F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59E35-84E9-495F-8B31-8551AB8B5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line or GUI (graphical user interface)?</a:t>
            </a:r>
          </a:p>
          <a:p>
            <a:endParaRPr lang="en-US" dirty="0"/>
          </a:p>
          <a:p>
            <a:r>
              <a:rPr lang="en-US" dirty="0"/>
              <a:t>Free interactive online resources</a:t>
            </a:r>
          </a:p>
          <a:p>
            <a:pPr lvl="1"/>
            <a:r>
              <a:rPr lang="en-US" dirty="0">
                <a:hlinkClick r:id="rId2"/>
              </a:rPr>
              <a:t>https://www.katacoda.com/courses/git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https://www.datacamp.com/courses/introduction-to-git-for-data-science</a:t>
            </a:r>
            <a:r>
              <a:rPr lang="en-US" dirty="0"/>
              <a:t> (first module is free)</a:t>
            </a:r>
          </a:p>
        </p:txBody>
      </p:sp>
    </p:spTree>
    <p:extLst>
      <p:ext uri="{BB962C8B-B14F-4D97-AF65-F5344CB8AC3E}">
        <p14:creationId xmlns:p14="http://schemas.microsoft.com/office/powerpoint/2010/main" val="2410736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6530-7E8A-492A-9F3A-B5503A92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C8D6A-1FC1-4100-9921-290A70BB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Git is the version control system. GitHub is an online service that lets you back up your repo (</a:t>
            </a:r>
            <a:r>
              <a:rPr lang="en-US" b="1" dirty="0"/>
              <a:t>push</a:t>
            </a:r>
            <a:r>
              <a:rPr lang="en-US" dirty="0"/>
              <a:t>) to the cloud privately; or you can share your repo publicly and allow others to copy it (</a:t>
            </a:r>
            <a:r>
              <a:rPr lang="en-US" b="1" dirty="0"/>
              <a:t>clone</a:t>
            </a:r>
            <a:r>
              <a:rPr lang="en-US" dirty="0"/>
              <a:t>). It also permits collaboration: multiple people making commits to the same repo.</a:t>
            </a:r>
          </a:p>
          <a:p>
            <a:pPr fontAlgn="base"/>
            <a:r>
              <a:rPr lang="en-US" dirty="0"/>
              <a:t>Git can be used on its own. But you can’t use GitHub without Git.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7A493B-8F21-4ECB-BD1B-954B3B523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766925"/>
            <a:ext cx="7358413" cy="22485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1636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4C29-BC2C-4BAC-A81F-5DAFE644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Lastly…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1F9067-17DA-4129-9F3B-3EA13E66F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0628" y="749213"/>
            <a:ext cx="7341993" cy="56733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E0DCB-3BDC-4F49-8E32-960E8EC9DDC5}"/>
              </a:ext>
            </a:extLst>
          </p:cNvPr>
          <p:cNvSpPr txBox="1"/>
          <p:nvPr/>
        </p:nvSpPr>
        <p:spPr>
          <a:xfrm>
            <a:off x="8077199" y="6422572"/>
            <a:ext cx="41148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https://github.com/louim/in-case-of-fire/blob/master/in_case_of_fire.png</a:t>
            </a:r>
          </a:p>
        </p:txBody>
      </p:sp>
    </p:spTree>
    <p:extLst>
      <p:ext uri="{BB962C8B-B14F-4D97-AF65-F5344CB8AC3E}">
        <p14:creationId xmlns:p14="http://schemas.microsoft.com/office/powerpoint/2010/main" val="11455128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323</TotalTime>
  <Words>2258</Words>
  <Application>Microsoft Office PowerPoint</Application>
  <PresentationFormat>Widescreen</PresentationFormat>
  <Paragraphs>328</Paragraphs>
  <Slides>51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Consolas</vt:lpstr>
      <vt:lpstr>Corbel</vt:lpstr>
      <vt:lpstr>Wingdings 2</vt:lpstr>
      <vt:lpstr>Frame</vt:lpstr>
      <vt:lpstr>Intro to Git or, Git for Demographers</vt:lpstr>
      <vt:lpstr>Aims</vt:lpstr>
      <vt:lpstr>Why Git?</vt:lpstr>
      <vt:lpstr>Ever happen to you?</vt:lpstr>
      <vt:lpstr>How about this?</vt:lpstr>
      <vt:lpstr>So true…</vt:lpstr>
      <vt:lpstr>Git solves this  Git is a version control system (VCS) used by the most valuable software projects in the world</vt:lpstr>
      <vt:lpstr>TANSTAAFL</vt:lpstr>
      <vt:lpstr>The perceived difficulty of Git has spawned many comics and memes</vt:lpstr>
      <vt:lpstr>Why my presentation is different</vt:lpstr>
      <vt:lpstr>Workflow without a true version control system (VCS)</vt:lpstr>
      <vt:lpstr>PowerPoint Presentation</vt:lpstr>
      <vt:lpstr>“Great but…”</vt:lpstr>
      <vt:lpstr>The next version</vt:lpstr>
      <vt:lpstr>PowerPoint Presentation</vt:lpstr>
      <vt:lpstr>“Great but…”</vt:lpstr>
      <vt:lpstr>Next try…</vt:lpstr>
      <vt:lpstr>PowerPoint Presentation</vt:lpstr>
      <vt:lpstr>Months pass</vt:lpstr>
      <vt:lpstr>What did I do 4 months ago?</vt:lpstr>
      <vt:lpstr>EMERGENCY EMAIL</vt:lpstr>
      <vt:lpstr>PowerPoint Presentation</vt:lpstr>
      <vt:lpstr>PowerPoint Presentation</vt:lpstr>
      <vt:lpstr>How would this work with Git?  We document our changes by making snapshots with commits  We will work in a repository, or repo  The repo contains all our code and commits</vt:lpstr>
      <vt:lpstr>Your models file</vt:lpstr>
      <vt:lpstr>Recoding years educ as ordinal</vt:lpstr>
      <vt:lpstr>Adding recode for white</vt:lpstr>
      <vt:lpstr>Updating your models</vt:lpstr>
      <vt:lpstr>Weighted regressions</vt:lpstr>
      <vt:lpstr>Using Git, what did we do differently?</vt:lpstr>
      <vt:lpstr>What does this look like?</vt:lpstr>
      <vt:lpstr>We also have a history of our commits  The color coding on the right is a diff</vt:lpstr>
      <vt:lpstr>PowerPoint Presentation</vt:lpstr>
      <vt:lpstr>PowerPoint Presentation</vt:lpstr>
      <vt:lpstr>With this commit history, we can avoid some suck</vt:lpstr>
      <vt:lpstr>Let’s find that commit</vt:lpstr>
      <vt:lpstr>Go back to the snapshot of all our files at that point in time.  This will work with 2 files (like we have) or 20,000 files or…</vt:lpstr>
      <vt:lpstr>Are you starting to understand the power of Git?</vt:lpstr>
      <vt:lpstr>But…</vt:lpstr>
      <vt:lpstr>Look at the commit history again</vt:lpstr>
      <vt:lpstr>Revert!</vt:lpstr>
      <vt:lpstr>Merge conflict!</vt:lpstr>
      <vt:lpstr>What does the merge conflict look like?</vt:lpstr>
      <vt:lpstr>Resolve the merge conflict</vt:lpstr>
      <vt:lpstr>And commit</vt:lpstr>
      <vt:lpstr>What’s the state of our repository now?</vt:lpstr>
      <vt:lpstr>Another benefit of Git</vt:lpstr>
      <vt:lpstr>Ask yourself…</vt:lpstr>
      <vt:lpstr>Learning Git</vt:lpstr>
      <vt:lpstr>What is GitHub?</vt:lpstr>
      <vt:lpstr>Lastly…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Git</dc:title>
  <dc:creator>Scott Yabiku</dc:creator>
  <cp:lastModifiedBy>Scott Yabiku</cp:lastModifiedBy>
  <cp:revision>76</cp:revision>
  <dcterms:created xsi:type="dcterms:W3CDTF">2019-11-12T23:56:24Z</dcterms:created>
  <dcterms:modified xsi:type="dcterms:W3CDTF">2019-11-15T16:38:59Z</dcterms:modified>
</cp:coreProperties>
</file>